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9FD3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1분기</c:v>
                  </c:pt>
                  <c:pt idx="1">
                    <c:v>2분기</c:v>
                  </c:pt>
                  <c:pt idx="2">
                    <c:v>3분기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368</c:v>
                </c:pt>
                <c:pt idx="1">
                  <c:v>385</c:v>
                </c:pt>
                <c:pt idx="2">
                  <c:v>408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1분기</c:v>
                  </c:pt>
                  <c:pt idx="1">
                    <c:v>2분기</c:v>
                  </c:pt>
                  <c:pt idx="2">
                    <c:v>3분기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412</c:v>
                </c:pt>
                <c:pt idx="1">
                  <c:v>447</c:v>
                </c:pt>
                <c:pt idx="2">
                  <c:v>482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직접영업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 3분기</c:v>
                  </c:pt>
                  <c:pt idx="1">
                    <c:v>2026년 3분기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</c:v>
                </c:pt>
                <c:pt idx="1">
                  <c:v>205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파트너</c:v>
                </c:pt>
              </c:strCache>
            </c:strRef>
          </c:tx>
          <c:spPr>
            <a:solidFill>
              <a:srgbClr val="9FD3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 3분기</c:v>
                  </c:pt>
                  <c:pt idx="1">
                    <c:v>2026년 3분기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118</c:v>
                </c:pt>
                <c:pt idx="1">
                  <c:v>128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온라인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2025년 3분기</c:v>
                  </c:pt>
                  <c:pt idx="1">
                    <c:v>2026년 3분기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80</c:v>
                </c:pt>
                <c:pt idx="1">
                  <c:v>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오프닝: 결론부터. 3분기 매출 482억, 전년 대비 18% 성장.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120640" cy="5120640"/>
          </a:xfrm>
          <a:prstGeom prst="ellipse">
            <a:avLst/>
          </a:prstGeom>
          <a:solidFill>
            <a:srgbClr val="0F7B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566160"/>
            <a:ext cx="2926080" cy="2926080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경영실적 보고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18% 성장 — 온라인 채널이 성장을 견인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경영기획팀  |  2026.10.02  |  대외비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매출·이익·고객 모두 전년 대비 개선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실적 한눈에 보기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482억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매출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+18% YoY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2584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+2.1%p YoY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6448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76488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3,240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고객 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+35% YoY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233672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채널 매출 +69억 — 전체 성장분(+74억)의 대부분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85546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절감 8.1억이 영업이익 개선폭의 약 45% 기여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495544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495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47725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4분기: 온라인 전용 상품 출시와 파트너 재계약에 집중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사내 ERP 매출 데이터 (예시 데이터)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매출 482억, 전년 동기 대비 18% 성장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매출 (단위: 억 원)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639312" cy="4206240"/>
          </a:xfrm>
          <a:prstGeom prst="roundRect">
            <a:avLst>
              <a:gd name="adj" fmla="val 3015"/>
            </a:avLst>
          </a:prstGeom>
          <a:solidFill>
            <a:srgbClr val="F3F6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201168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+74억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7432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대비 증가액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9184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분기 연속 성장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 대비 +35억 (+7.8%)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목표 1,800억 대비 누적 달성률 74%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사내 ERP 매출 데이터 (예시 데이터)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비중 20% → 31%, 성장분 대부분을 온라인이 만들었다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3분기 매출 (단위: 억 원)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8521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증감 (전년 동기 대비)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0" y="2377440"/>
            <a:ext cx="4690872" cy="777240"/>
          </a:xfrm>
          <a:prstGeom prst="roundRect">
            <a:avLst>
              <a:gd name="adj" fmla="val 11765"/>
            </a:avLst>
          </a:prstGeom>
          <a:solidFill>
            <a:srgbClr val="F3F6FA"/>
          </a:solidFill>
          <a:ln/>
        </p:spPr>
      </p:sp>
      <p:sp>
        <p:nvSpPr>
          <p:cNvPr id="7" name="Shape 4"/>
          <p:cNvSpPr/>
          <p:nvPr/>
        </p:nvSpPr>
        <p:spPr>
          <a:xfrm>
            <a:off x="7178040" y="263347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3524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2377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+69억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2377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+86%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3337560"/>
            <a:ext cx="4690872" cy="777240"/>
          </a:xfrm>
          <a:prstGeom prst="roundRect">
            <a:avLst>
              <a:gd name="adj" fmla="val 11765"/>
            </a:avLst>
          </a:prstGeom>
          <a:solidFill>
            <a:srgbClr val="F3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7178040" y="3593592"/>
            <a:ext cx="274320" cy="274320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35240" y="3337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+10억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0607040" y="33375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49440" y="4297680"/>
            <a:ext cx="4690872" cy="777240"/>
          </a:xfrm>
          <a:prstGeom prst="roundRect">
            <a:avLst>
              <a:gd name="adj" fmla="val 11765"/>
            </a:avLst>
          </a:prstGeom>
          <a:solidFill>
            <a:srgbClr val="F3F6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178040" y="4553712"/>
            <a:ext cx="274320" cy="2743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35240" y="4297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4297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−5억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0607040" y="42976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−2%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539496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온라인 전용 상품과 구독형 가격제가 신규 고객 유입을 주도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사내 ERP 매출 데이터 (예시 데이터)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42.0억 → 59.8억, 원가 절감이 개선폭의 약 45% 기여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증감 분석 (단위: 억 원, 전년 동기 대비)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241196"/>
            <a:ext cx="1188720" cy="224520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8297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25년 3분기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241196"/>
            <a:ext cx="68214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93822" y="2535561"/>
            <a:ext cx="1188720" cy="705635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10942" y="2124081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+13.2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5222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증가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82542" y="2535561"/>
            <a:ext cx="68214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64685" y="2102557"/>
            <a:ext cx="1188720" cy="4330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1805" y="169107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+8.1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36085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절감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53405" y="2102557"/>
            <a:ext cx="68214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35547" y="2102557"/>
            <a:ext cx="1188720" cy="138989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52667" y="169107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−2.6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06947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증가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4267" y="2241546"/>
            <a:ext cx="68214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306410" y="2241546"/>
            <a:ext cx="1188720" cy="4811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23530" y="183006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7781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95130" y="2289658"/>
            <a:ext cx="68214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177272" y="2289658"/>
            <a:ext cx="1188720" cy="319674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94392" y="187817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59.8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948672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26년 3분기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재무팀 손익 분석 (예시 데이터)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 과제 우선순위: '빠른 성과' 2건부터 즉시 착수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기대 효과 × 실행 난이도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1645920"/>
            <a:ext cx="3346704" cy="2157984"/>
          </a:xfrm>
          <a:prstGeom prst="roundRect">
            <a:avLst>
              <a:gd name="adj" fmla="val 3390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과제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높음 · 난이도 높음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5152" y="1645920"/>
            <a:ext cx="3346704" cy="2157984"/>
          </a:xfrm>
          <a:prstGeom prst="roundRect">
            <a:avLst>
              <a:gd name="adj" fmla="val 3390"/>
            </a:avLst>
          </a:prstGeom>
          <a:solidFill>
            <a:srgbClr val="FFE8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2803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성과 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높음 · 난이도 낮음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3913632"/>
            <a:ext cx="3346704" cy="2157984"/>
          </a:xfrm>
          <a:prstGeom prst="roundRect">
            <a:avLst>
              <a:gd name="adj" fmla="val 3390"/>
            </a:avLst>
          </a:prstGeom>
          <a:solidFill>
            <a:srgbClr val="F9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370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낮음 · 난이도 높음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3913632"/>
            <a:ext cx="3346704" cy="2157984"/>
          </a:xfrm>
          <a:prstGeom prst="roundRect">
            <a:avLst>
              <a:gd name="adj" fmla="val 3390"/>
            </a:avLst>
          </a:prstGeom>
          <a:solidFill>
            <a:srgbClr val="F3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시 진행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4370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낮음 · 난이도 낮음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22860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↑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6144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난이도 높음  ←→  낮음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2546" y="256032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2254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79746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전용 상품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31536" y="315468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31536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888736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재계약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975104" y="2743200"/>
            <a:ext cx="384048" cy="384048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97510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432304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ERP 도입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975104" y="5010912"/>
            <a:ext cx="384048" cy="384048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975104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432304" y="5010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파일럿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31536" y="5010912"/>
            <a:ext cx="384048" cy="384048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31536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888736" y="5010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교육 개편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173736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2286000"/>
            <a:ext cx="3502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A·B는 10월 즉시 착수 (예상 효과 +22억)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C는 2027년 예산 편성 시 재검토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D는 시장 조사 결과 확인 후 결정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부서별 과제 제안서 평가 (예시 데이터)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 실행 로드맵: 12주 안에 4단계로 추진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마일스톤과 담당 조직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178" cy="822960"/>
          </a:xfrm>
          <a:prstGeom prst="chevron">
            <a:avLst/>
          </a:prstGeom>
          <a:solidFill>
            <a:srgbClr val="9FD3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567178" cy="2834640"/>
          </a:xfrm>
          <a:prstGeom prst="roundRect">
            <a:avLst>
              <a:gd name="adj" fmla="val 3562"/>
            </a:avLst>
          </a:prstGeom>
          <a:solidFill>
            <a:srgbClr val="F3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0040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1–2주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전용 상품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21208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상품기획팀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138" y="1920240"/>
            <a:ext cx="2567178" cy="822960"/>
          </a:xfrm>
          <a:prstGeom prst="chevron">
            <a:avLst/>
          </a:prstGeom>
          <a:solidFill>
            <a:srgbClr val="0F7B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64458" y="192024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90138" y="3017520"/>
            <a:ext cx="2567178" cy="2834640"/>
          </a:xfrm>
          <a:prstGeom prst="roundRect">
            <a:avLst>
              <a:gd name="adj" fmla="val 3562"/>
            </a:avLst>
          </a:prstGeom>
          <a:solidFill>
            <a:srgbClr val="F3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8738" y="320040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3주–11월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365760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채널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런칭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18738" y="521208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마케팅팀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1920240"/>
            <a:ext cx="2567178" cy="822960"/>
          </a:xfrm>
          <a:prstGeom prst="chevron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192024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31636" y="3017520"/>
            <a:ext cx="2567178" cy="2834640"/>
          </a:xfrm>
          <a:prstGeom prst="roundRect">
            <a:avLst>
              <a:gd name="adj" fmla="val 3562"/>
            </a:avLst>
          </a:prstGeom>
          <a:solidFill>
            <a:srgbClr val="F3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0236" y="320040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65760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3사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재계약 완료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60236" y="521208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영업본부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3134" y="1920240"/>
            <a:ext cx="2567178" cy="822960"/>
          </a:xfrm>
          <a:prstGeom prst="chevron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47454" y="192024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73134" y="3017520"/>
            <a:ext cx="2567178" cy="2834640"/>
          </a:xfrm>
          <a:prstGeom prst="roundRect">
            <a:avLst>
              <a:gd name="adj" fmla="val 3562"/>
            </a:avLst>
          </a:prstGeom>
          <a:solidFill>
            <a:srgbClr val="F3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01734" y="320040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01734" y="365760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리뷰 및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계획 반영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301734" y="521208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경영기획팀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4분기 사업계획 (예시 데이터)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 3건 — 모두 대응책과 담당자 지정 완료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영향도와 대응 계획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88720"/>
                <a:gridCol w="4480560"/>
                <a:gridCol w="158191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원자재 가격 상승 (환율 1,400원 이상 지속)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단위 장기계약 전환, 대체 공급처 2곳 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 1개사 계약 종료 가능성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11월 재계약 협상 선제 착수, 조건 시뮬레이션 준비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영업본부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채널 개인정보 규제 강화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절차 개편 및 외부 법률 검토 완료 (9월)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E8D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2578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사항: 원자재 장기계약 전환을 위한 선급금 12억 집행 승인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리스크관리위원회 9월 회의 (예시 데이터)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0F7B8A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의사결정 요청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94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매출 482억(+18%), 영업이익률 12.4%로 목표 초과 달성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0F7B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154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동력은 온라인 채널 — 4분기 온라인 전용 상품에 집중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요청: 원자재 장기계약 선급금 12억 집행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 경영기획팀 (내선 1234)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누리테크 (예시)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경영실적 보고</dc:title>
  <dc:subject>PptxGenJS Presentation</dc:subject>
  <dc:creator>PptxGenJS</dc:creator>
  <cp:lastModifiedBy>PptxGenJS</cp:lastModifiedBy>
  <cp:revision>1</cp:revision>
  <dcterms:created xsi:type="dcterms:W3CDTF">2026-09-25T02:53:30Z</dcterms:created>
  <dcterms:modified xsi:type="dcterms:W3CDTF">2026-09-25T02:53:30Z</dcterms:modified>
</cp:coreProperties>
</file>